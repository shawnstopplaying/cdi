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362" autoAdjust="0"/>
  </p:normalViewPr>
  <p:slideViewPr>
    <p:cSldViewPr snapToGrid="0">
      <p:cViewPr varScale="1">
        <p:scale>
          <a:sx n="84" d="100"/>
          <a:sy n="84" d="100"/>
        </p:scale>
        <p:origin x="10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C8813-8144-48D8-9B61-47FE800CFC19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E9F88-71D0-4DFC-9BE6-979170C62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6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b="0" dirty="0"/>
              <a:t>Hi everyone, I’m Shawn, and today I’ll be presenting a microbiome-based analysis that focuses on how strain-level microbial dynamics relate to treatment outcomes in patients with recurrent </a:t>
            </a:r>
            <a:r>
              <a:rPr lang="en-US" altLang="zh-CN" b="0" i="1" dirty="0" err="1"/>
              <a:t>Clostridioides</a:t>
            </a:r>
            <a:r>
              <a:rPr lang="en-US" altLang="zh-CN" b="0" i="1" dirty="0"/>
              <a:t> difficile</a:t>
            </a:r>
            <a:r>
              <a:rPr lang="en-US" altLang="zh-CN" b="0" dirty="0"/>
              <a:t> infection.</a:t>
            </a:r>
          </a:p>
          <a:p>
            <a:pPr>
              <a:buNone/>
            </a:pPr>
            <a:endParaRPr lang="en-US" altLang="zh-CN" b="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E9F88-71D0-4DFC-9BE6-979170C6238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436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First, a little background: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Clostridioides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difficile infection, or CDI, is a serious and increasingly common disease, often triggered by antibiotics that disrupt the normal gut microbiota.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 a healthy gut, diverse commensal bacteria help protect against invaders like C. difficile. But after broad-spectrum antibiotics, these commensals are depleted, creating an opening for C. difficile spores to germinate, produce toxins, and cause disease.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Standard antibiotics like vancomycin can treat the symptoms, but they don't resolve the underlying dysbiosis. That’s why recurrence rates are so high—over 50% in some cases.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To address this, fecal microbiota transplantation, or FMT, introduces healthy donor stool to restore gut balance. It can be very effective, with cure rates over 80%.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But traditional FMT comes with challenges, including variability between donors and limited regulation. These concerns have led to more standardized approaches—like RBX2660, a microbiota-based therapeutic developed for recurrent CDI.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E9F88-71D0-4DFC-9BE6-979170C6238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01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RBX2660 is the first and only FDA-approved microbiota-based therapeutic for recurrent C. difficile infection, approved in 2022 as REBYOTA™.</a:t>
            </a:r>
          </a:p>
          <a:p>
            <a:endParaRPr lang="en-US" altLang="zh-CN" dirty="0"/>
          </a:p>
          <a:p>
            <a:r>
              <a:rPr lang="en-US" altLang="zh-CN" dirty="0"/>
              <a:t>Unlike traditional FMT, RBX2660 is standardized and clinically regulated. It contains carefully screened donor microbiota in liquid form, and is delivered via rectal enema.</a:t>
            </a:r>
          </a:p>
          <a:p>
            <a:endParaRPr lang="en-US" altLang="zh-CN" dirty="0"/>
          </a:p>
          <a:p>
            <a:r>
              <a:rPr lang="en-US" altLang="zh-CN" dirty="0"/>
              <a:t>In clinical trials, it not only reduced CDI recurrence but also lowered antibiotic resistance gene burden, suggesting broader ecological benefits.</a:t>
            </a:r>
          </a:p>
          <a:p>
            <a:endParaRPr lang="en-US" altLang="zh-CN" dirty="0"/>
          </a:p>
          <a:p>
            <a:r>
              <a:rPr lang="en-US" altLang="zh-CN" dirty="0"/>
              <a:t>However, not all patients respond equally—some achieve sustained remission, while others relapse.</a:t>
            </a:r>
          </a:p>
          <a:p>
            <a:endParaRPr lang="en-US" altLang="zh-CN" dirty="0"/>
          </a:p>
          <a:p>
            <a:r>
              <a:rPr lang="en-US" altLang="zh-CN" dirty="0"/>
              <a:t>This variability highlights the need to explore whether microbiota-level differences can explain treatment outcomes.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E9F88-71D0-4DFC-9BE6-979170C6238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816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Based on the variability in clinical response to RBX2660, this study is guided by two key questions.</a:t>
            </a:r>
          </a:p>
          <a:p>
            <a:endParaRPr lang="en-US" altLang="zh-CN" dirty="0"/>
          </a:p>
          <a:p>
            <a:r>
              <a:rPr lang="en-US" altLang="zh-CN" dirty="0"/>
              <a:t>First, we asked whether RBX2660 treatment significantly alters the gut microbiota—does it actually restore diversity and shift composition in patients with recurrent CDI?</a:t>
            </a:r>
          </a:p>
          <a:p>
            <a:endParaRPr lang="en-US" altLang="zh-CN" dirty="0"/>
          </a:p>
          <a:p>
            <a:r>
              <a:rPr lang="en-US" altLang="zh-CN" dirty="0"/>
              <a:t>Second, we asked whether patients with better outcomes—those who didn’t need a second dose—show distinct microbial patterns compared to those who relapsed.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E9F88-71D0-4DFC-9BE6-979170C6238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193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slide shows how alpha diversity changed before and after RBX2660 treatment, using Richness, Shannon, and Simpson indices.</a:t>
            </a:r>
          </a:p>
          <a:p>
            <a:endParaRPr lang="en-US" altLang="zh-CN" dirty="0"/>
          </a:p>
          <a:p>
            <a:r>
              <a:rPr lang="en-US" altLang="zh-CN" dirty="0"/>
              <a:t>As expected, donor samples had the highest diversity, while both patient groups showed low diversity at baseline—reflecting CDI-related dysbiosis.</a:t>
            </a:r>
          </a:p>
          <a:p>
            <a:endParaRPr lang="en-US" altLang="zh-CN" dirty="0"/>
          </a:p>
          <a:p>
            <a:r>
              <a:rPr lang="en-US" altLang="zh-CN" dirty="0"/>
              <a:t>I’ll refer to two groups throughout: SI patients didn’t need a second intervention; RI patients did.</a:t>
            </a:r>
          </a:p>
          <a:p>
            <a:endParaRPr lang="en-US" altLang="zh-CN" dirty="0"/>
          </a:p>
          <a:p>
            <a:r>
              <a:rPr lang="en-US" altLang="zh-CN" dirty="0"/>
              <a:t>After treatment, diversity increased in both groups, but the improvement was greater in SI7, suggesting better microbial recovery.</a:t>
            </a:r>
          </a:p>
          <a:p>
            <a:endParaRPr lang="en-US" altLang="zh-CN" dirty="0"/>
          </a:p>
          <a:p>
            <a:r>
              <a:rPr lang="en-US" altLang="zh-CN" dirty="0"/>
              <a:t>This supports the idea that RBX2660 helps restore diversity, especially in patients with better clinical outcomes.</a:t>
            </a:r>
          </a:p>
          <a:p>
            <a:endParaRPr lang="en-US" altLang="zh-CN" dirty="0"/>
          </a:p>
          <a:p>
            <a:r>
              <a:rPr lang="en-US" altLang="zh-CN" dirty="0"/>
              <a:t>Next, we’ll examine beta diversity to see if overall community structure also shifted toward a healthier, donor-like state.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E9F88-71D0-4DFC-9BE6-979170C6238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672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slide shows beta diversity to assess how overall microbiota composition changed after RBX2660.</a:t>
            </a:r>
          </a:p>
          <a:p>
            <a:endParaRPr lang="en-US" altLang="zh-CN" dirty="0"/>
          </a:p>
          <a:p>
            <a:r>
              <a:rPr lang="en-US" altLang="zh-CN" dirty="0"/>
              <a:t>These NMDS plots are based on Sorensen and Bray-Curtis distances. In the top row, donor samples (green) form a distinct cluster, while SI7 samples (orange) shift closer to the donor group after treatment.</a:t>
            </a:r>
          </a:p>
          <a:p>
            <a:endParaRPr lang="en-US" altLang="zh-CN" dirty="0"/>
          </a:p>
          <a:p>
            <a:r>
              <a:rPr lang="en-US" altLang="zh-CN" dirty="0"/>
              <a:t>In contrast, RI7 samples (dark blue) remain scattered and farther from the donor centroid, suggesting weaker or less consistent engraftment.</a:t>
            </a:r>
          </a:p>
          <a:p>
            <a:endParaRPr lang="en-US" altLang="zh-CN" dirty="0"/>
          </a:p>
          <a:p>
            <a:r>
              <a:rPr lang="en-US" altLang="zh-CN" dirty="0"/>
              <a:t>Even without the donor group (bottom row), we still see SI7 drifting from baseline, while RI samples cluster near RI0, indicating minimal structural change.</a:t>
            </a:r>
          </a:p>
          <a:p>
            <a:endParaRPr lang="en-US" altLang="zh-CN" dirty="0"/>
          </a:p>
          <a:p>
            <a:r>
              <a:rPr lang="en-US" altLang="zh-CN" dirty="0"/>
              <a:t>Overall, this supports what we saw in alpha diversity: RBX2660 shifts microbiota, and this shift is stronger in patients who had better clinical outcomes.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E9F88-71D0-4DFC-9BE6-979170C6238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550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/>
              <a:t>This slide shows the top six phyla across all groups.</a:t>
            </a:r>
          </a:p>
          <a:p>
            <a:endParaRPr lang="en-US" altLang="zh-CN" b="0" dirty="0"/>
          </a:p>
          <a:p>
            <a:r>
              <a:rPr lang="en-US" altLang="zh-CN" b="0" dirty="0"/>
              <a:t>In healthy donors, Firmicutes dominate, with moderate </a:t>
            </a:r>
            <a:r>
              <a:rPr lang="en-US" altLang="zh-CN" b="0" dirty="0" err="1"/>
              <a:t>Actinobacteriota</a:t>
            </a:r>
            <a:r>
              <a:rPr lang="en-US" altLang="zh-CN" b="0" dirty="0"/>
              <a:t> and </a:t>
            </a:r>
            <a:r>
              <a:rPr lang="en-US" altLang="zh-CN" b="0" dirty="0" err="1"/>
              <a:t>Bacteroidota</a:t>
            </a:r>
            <a:r>
              <a:rPr lang="en-US" altLang="zh-CN" b="0" dirty="0"/>
              <a:t>, which are generally beneficial.</a:t>
            </a:r>
          </a:p>
          <a:p>
            <a:endParaRPr lang="en-US" altLang="zh-CN" b="0" dirty="0"/>
          </a:p>
          <a:p>
            <a:r>
              <a:rPr lang="en-US" altLang="zh-CN" b="0" dirty="0"/>
              <a:t>At baseline, both RI0 and SI0 show depleted Firmicutes and elevated Proteobacteria, a typical marker of dysbiosis and inflammation.</a:t>
            </a:r>
          </a:p>
          <a:p>
            <a:endParaRPr lang="en-US" altLang="zh-CN" b="0" dirty="0"/>
          </a:p>
          <a:p>
            <a:r>
              <a:rPr lang="en-US" altLang="zh-CN" b="0" dirty="0"/>
              <a:t>After RBX2660, SI7 samples show strong Firmicutes recovery and reduced Proteobacteria, indicating healthier composition.</a:t>
            </a:r>
          </a:p>
          <a:p>
            <a:endParaRPr lang="en-US" altLang="zh-CN" b="0" dirty="0"/>
          </a:p>
          <a:p>
            <a:r>
              <a:rPr lang="en-US" altLang="zh-CN" b="0" dirty="0"/>
              <a:t>The RI7 group shows more variability—Firmicutes rise slightly, but Proteobacteria remain higher, suggesting incomplete recovery.</a:t>
            </a:r>
          </a:p>
          <a:p>
            <a:endParaRPr lang="en-US" altLang="zh-CN" b="0" dirty="0"/>
          </a:p>
          <a:p>
            <a:r>
              <a:rPr lang="en-US" altLang="zh-CN" b="0" dirty="0"/>
              <a:t>We also see partial increases in </a:t>
            </a:r>
            <a:r>
              <a:rPr lang="en-US" altLang="zh-CN" b="0" dirty="0" err="1"/>
              <a:t>Actino</a:t>
            </a:r>
            <a:r>
              <a:rPr lang="en-US" altLang="zh-CN" b="0" dirty="0"/>
              <a:t>- and </a:t>
            </a:r>
            <a:r>
              <a:rPr lang="en-US" altLang="zh-CN" b="0" dirty="0" err="1"/>
              <a:t>Bacteroidota</a:t>
            </a:r>
            <a:r>
              <a:rPr lang="en-US" altLang="zh-CN" b="0" dirty="0"/>
              <a:t> in both groups.</a:t>
            </a:r>
          </a:p>
          <a:p>
            <a:endParaRPr lang="en-US" altLang="zh-CN" b="0" dirty="0"/>
          </a:p>
          <a:p>
            <a:r>
              <a:rPr lang="en-US" altLang="zh-CN" b="0" dirty="0"/>
              <a:t>Finally, </a:t>
            </a:r>
            <a:r>
              <a:rPr lang="en-US" altLang="zh-CN" b="0" dirty="0" err="1"/>
              <a:t>Verrucomicrobiota</a:t>
            </a:r>
            <a:r>
              <a:rPr lang="en-US" altLang="zh-CN" b="0" dirty="0"/>
              <a:t> increased post-treatment in both SI and RI, potentially as a microbial response to FMT.</a:t>
            </a:r>
          </a:p>
          <a:p>
            <a:endParaRPr lang="en-US" altLang="zh-CN" b="0" dirty="0"/>
          </a:p>
          <a:p>
            <a:r>
              <a:rPr lang="en-US" altLang="zh-CN" b="0" dirty="0"/>
              <a:t>Overall, these results suggest that RBX2660 partially restores a more balanced gut microbiota, especially in SI patients.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E9F88-71D0-4DFC-9BE6-979170C6238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095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the top right, you can see the phylum-level Firmicutes abundance across groups—just to give some context.</a:t>
            </a:r>
          </a:p>
          <a:p>
            <a:endParaRPr lang="en-US" altLang="zh-CN" dirty="0"/>
          </a:p>
          <a:p>
            <a:r>
              <a:rPr lang="en-US" altLang="zh-CN" dirty="0"/>
              <a:t>The left panel breaks this down to the genus level. We can see that most beneficial genera, like </a:t>
            </a:r>
            <a:r>
              <a:rPr lang="en-US" altLang="zh-CN" dirty="0" err="1"/>
              <a:t>Blautia</a:t>
            </a:r>
            <a:r>
              <a:rPr lang="en-US" altLang="zh-CN" dirty="0"/>
              <a:t> and </a:t>
            </a:r>
            <a:r>
              <a:rPr lang="en-US" altLang="zh-CN" dirty="0" err="1"/>
              <a:t>Roseburia</a:t>
            </a:r>
            <a:r>
              <a:rPr lang="en-US" altLang="zh-CN" dirty="0"/>
              <a:t> (highlighted in green), are mainly restored in the SI7 group.</a:t>
            </a:r>
          </a:p>
          <a:p>
            <a:endParaRPr lang="en-US" altLang="zh-CN" dirty="0"/>
          </a:p>
          <a:p>
            <a:r>
              <a:rPr lang="en-US" altLang="zh-CN" dirty="0"/>
              <a:t>However, some genera—shown in red—remain low in both SI and RI after treatment, suggesting that RBX2660 has limitations in restoring the full spectrum of commensals.</a:t>
            </a:r>
          </a:p>
          <a:p>
            <a:endParaRPr lang="en-US" altLang="zh-CN" dirty="0"/>
          </a:p>
          <a:p>
            <a:r>
              <a:rPr lang="en-US" altLang="zh-CN" dirty="0"/>
              <a:t>In the bottom right, we zoom in on ASV-level changes within </a:t>
            </a:r>
            <a:r>
              <a:rPr lang="en-US" altLang="zh-CN" dirty="0" err="1"/>
              <a:t>Blautia</a:t>
            </a:r>
            <a:r>
              <a:rPr lang="en-US" altLang="zh-CN" dirty="0"/>
              <a:t>. ASVs like ASV_0001 and ASV_0003 reappear in SI7 but are almost absent in RI7.</a:t>
            </a:r>
          </a:p>
          <a:p>
            <a:endParaRPr lang="en-US" altLang="zh-CN" dirty="0"/>
          </a:p>
          <a:p>
            <a:r>
              <a:rPr lang="en-US" altLang="zh-CN" dirty="0"/>
              <a:t>This indicates that successful recovery involves not just genus-level shifts, but strain-level engraftment, and that the absence of these ASVs in RI may reflect failed colonization or host-related barriers.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E9F88-71D0-4DFC-9BE6-979170C6238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961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Proteobacteria, it's a genera that include opportunistic pathogens typically elevated in </a:t>
            </a:r>
            <a:r>
              <a:rPr lang="en-US" altLang="zh-CN" dirty="0" err="1"/>
              <a:t>dysbiotic</a:t>
            </a:r>
            <a:r>
              <a:rPr lang="en-US" altLang="zh-CN" dirty="0"/>
              <a:t> guts and linked to inflammation and resistance.</a:t>
            </a:r>
          </a:p>
          <a:p>
            <a:endParaRPr lang="en-US" altLang="zh-CN" dirty="0"/>
          </a:p>
          <a:p>
            <a:r>
              <a:rPr lang="en-US" altLang="zh-CN" dirty="0"/>
              <a:t>The left panel breaks this down into key genera: Escherichia-Shigella, Klebsiella, and </a:t>
            </a:r>
            <a:r>
              <a:rPr lang="en-US" altLang="zh-CN" dirty="0" err="1"/>
              <a:t>Pluralibacter</a:t>
            </a:r>
            <a:r>
              <a:rPr lang="en-US" altLang="zh-CN" dirty="0"/>
              <a:t>. These were abundant at baseline in both SI0 and RI0.</a:t>
            </a:r>
          </a:p>
          <a:p>
            <a:endParaRPr lang="en-US" altLang="zh-CN" dirty="0"/>
          </a:p>
          <a:p>
            <a:r>
              <a:rPr lang="en-US" altLang="zh-CN" dirty="0"/>
              <a:t>After treatment, SI7 shows a clear reduction across all three, nearing donor levels. In contrast, RI7 shows more variable and incomplete suppression.</a:t>
            </a:r>
          </a:p>
          <a:p>
            <a:endParaRPr lang="en-US" altLang="zh-CN" dirty="0"/>
          </a:p>
          <a:p>
            <a:r>
              <a:rPr lang="en-US" altLang="zh-CN" dirty="0"/>
              <a:t>In the bottom right, we zoom in on ASV_0004, a representative Escherichia-Shigella strain. It persists in RI7 but is almost eliminated in SI7.</a:t>
            </a:r>
          </a:p>
          <a:p>
            <a:endParaRPr lang="en-US" altLang="zh-CN" dirty="0"/>
          </a:p>
          <a:p>
            <a:r>
              <a:rPr lang="en-US" altLang="zh-CN" dirty="0"/>
              <a:t>This suggests that successful FMT involves not just adding beneficial microbes, but also clearing harmful ones—and persistent Proteobacteria may indicate treatment failure.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E9F88-71D0-4DFC-9BE6-979170C6238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20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Akkermansia</a:t>
            </a:r>
            <a:r>
              <a:rPr lang="en-US" altLang="zh-CN" dirty="0"/>
              <a:t> is often considered beneficial due to its protein-degrading capacity and links to metabolic health. But its overgrowth can also reflect mucosal disruption, especially when other commensals are lacking.</a:t>
            </a:r>
          </a:p>
          <a:p>
            <a:endParaRPr lang="en-US" altLang="zh-CN" dirty="0"/>
          </a:p>
          <a:p>
            <a:r>
              <a:rPr lang="en-US" altLang="zh-CN" dirty="0"/>
              <a:t>In the left panel, we see that </a:t>
            </a:r>
            <a:r>
              <a:rPr lang="en-US" altLang="zh-CN" dirty="0" err="1"/>
              <a:t>Akkermansia</a:t>
            </a:r>
            <a:r>
              <a:rPr lang="en-US" altLang="zh-CN" dirty="0"/>
              <a:t> increased in both SI7 and RI7 after treatment—but RI7 showed much higher and more variable levels, with some samples above 60%.</a:t>
            </a:r>
          </a:p>
          <a:p>
            <a:endParaRPr lang="en-US" altLang="zh-CN" dirty="0"/>
          </a:p>
          <a:p>
            <a:r>
              <a:rPr lang="en-US" altLang="zh-CN" dirty="0"/>
              <a:t>On the right, the dominant ASV—ASV_0002—shows a similar trend: minimal in donors and SI, but spikes sharply in RI7, suggesting a strain-specific bloom.</a:t>
            </a:r>
          </a:p>
          <a:p>
            <a:endParaRPr lang="en-US" altLang="zh-CN" dirty="0"/>
          </a:p>
          <a:p>
            <a:r>
              <a:rPr lang="en-US" altLang="zh-CN" dirty="0"/>
              <a:t>This indicates that </a:t>
            </a:r>
            <a:r>
              <a:rPr lang="en-US" altLang="zh-CN" dirty="0" err="1"/>
              <a:t>Akkermansia</a:t>
            </a:r>
            <a:r>
              <a:rPr lang="en-US" altLang="zh-CN" dirty="0"/>
              <a:t> expansion doesn’t necessarily signal recovery. In fact, excessive overgrowth in RI7 may reflect ecological instability.</a:t>
            </a:r>
          </a:p>
          <a:p>
            <a:endParaRPr lang="en-US" altLang="zh-CN" dirty="0"/>
          </a:p>
          <a:p>
            <a:r>
              <a:rPr lang="en-US" altLang="zh-CN" dirty="0"/>
              <a:t>So while modest </a:t>
            </a:r>
            <a:r>
              <a:rPr lang="en-US" altLang="zh-CN" dirty="0" err="1"/>
              <a:t>Akkermansia</a:t>
            </a:r>
            <a:r>
              <a:rPr lang="en-US" altLang="zh-CN" dirty="0"/>
              <a:t> levels may be part of balanced recovery, its overrepresentation could mark dysregulated outcomes, and future studies may explore its role as a context-dependent indicator of FMT success.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E9F88-71D0-4DFC-9BE6-979170C6238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075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/>
              <a:t>To summarize, RBX2660 treatment reshaped the gut microbiota in patients with recurrent CDI, but the degree of recovery varied.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In patients who responded to a single dose, we saw clear signs of beneficial taxa engraftment and suppression of Proteobacteria, both at genus and ASV levels.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In contrast, non-responders retained </a:t>
            </a:r>
            <a:r>
              <a:rPr lang="en-US" altLang="zh-CN" dirty="0" err="1"/>
              <a:t>dysbiotic</a:t>
            </a:r>
            <a:r>
              <a:rPr lang="en-US" altLang="zh-CN" dirty="0"/>
              <a:t> features, including high levels of opportunistic pathogens and unusual overgrowth of </a:t>
            </a:r>
            <a:r>
              <a:rPr lang="en-US" altLang="zh-CN" i="1" dirty="0" err="1"/>
              <a:t>Akkermansia</a:t>
            </a:r>
            <a:r>
              <a:rPr lang="en-US" altLang="zh-CN" dirty="0"/>
              <a:t>.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These patterns suggest that strain-level tracking is crucial for understanding FMT outcomes.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Looking forward, future research could focus on identifying early predictors of FMT success, refining donor selection, and possibly modifying formulations to improve engraftment while suppressing opportunists.</a:t>
            </a:r>
          </a:p>
          <a:p>
            <a:pPr>
              <a:buNone/>
            </a:pPr>
            <a:endParaRPr lang="en-US" altLang="zh-CN" dirty="0"/>
          </a:p>
          <a:p>
            <a:r>
              <a:rPr lang="en-US" altLang="zh-CN" dirty="0"/>
              <a:t>With that, I’d like to thank you all for your attention.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E9F88-71D0-4DFC-9BE6-979170C6238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833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717464-38BD-5DA2-B5EC-817A86D87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300C95-6EDD-94D0-AAD1-BDBD6A7ED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E61AD0-6588-B4DA-5E45-E233EDE24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36F59-FADA-44CC-A8A7-6E1FAC40F0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CC4735-119C-4547-38E7-5EDD44C9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710369-BF9D-9EC0-A049-9B113EAD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0889B-5FA4-45F2-80F0-E2718FFBB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991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D4287-6F60-4E30-540B-D34807305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D87ED4-48DA-9F67-8DAF-F78D66BDA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293579-450B-E97D-0FAD-A31881FF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36F59-FADA-44CC-A8A7-6E1FAC40F0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5DE911-5BCD-4AE4-B309-58BDD350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8C593B-170B-8C5C-9C08-8D1E0E83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0889B-5FA4-45F2-80F0-E2718FFBB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23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69FF1-C19E-1064-3DD8-58C1011CB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6CA18B-6E02-F094-F45E-76FB43B8B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1F76E3-7234-8E30-2A61-527E55F51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36F59-FADA-44CC-A8A7-6E1FAC40F0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3D2CAD-8A15-3DAD-DAAE-9F7EFCE4C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B5A268-2AE0-C6EF-022F-4F45274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0889B-5FA4-45F2-80F0-E2718FFBB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165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D82793-F91A-1574-DBC5-9051F9CB5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AE2939-F80C-8FDD-B598-70D8A4EE0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40E8B4-FB23-A1A9-C653-05E6CB547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815D48-9B36-0F30-8BEC-E50E5F48A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36F59-FADA-44CC-A8A7-6E1FAC40F0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4F5DE9-7AAC-AD94-6906-950CFBA86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FAC4B2-8D44-2C9F-66EF-595A828B2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0889B-5FA4-45F2-80F0-E2718FFBB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46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D122E-475A-D2E8-9CFA-410B3ED6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34C963-08B1-08E9-01A8-E3E5402CA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CAD5F5-045E-3D58-B308-6AA469E9B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25E20E-9AD0-3F4D-92AF-D52DC6AD6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A2D082-C1E5-AD1A-7D8C-33F3208B4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4F2B71-F772-E67C-9B69-AE6D512A1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36F59-FADA-44CC-A8A7-6E1FAC40F0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BE7090-D7B1-3B1A-0B94-2E117A9CF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D2DE0-6AB0-5C2E-AB71-EADF907C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0889B-5FA4-45F2-80F0-E2718FFBB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92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40B0DD-6EA2-6E56-CC4B-8DFE378D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2B1788-7758-5AAE-2667-E0E44EC4F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36F59-FADA-44CC-A8A7-6E1FAC40F0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855857-06FA-00A3-787A-AFB73A6C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958F7B-696B-8B90-82CA-21BB48931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0889B-5FA4-45F2-80F0-E2718FFBB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009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8BBB50-9DE8-A718-A57A-8AC52C8D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36F59-FADA-44CC-A8A7-6E1FAC40F0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87C65A-BC8E-0F5A-CD4F-4C99141B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606DDD-5B62-E26D-2598-4E3667EF0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0889B-5FA4-45F2-80F0-E2718FFBB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759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CCE6C5-8125-C90B-E403-6BDE1E929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02234C-40BD-ABB8-4492-86EE69985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0373F8-31EC-C976-619A-DB0D18384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9A0FF1-79DC-D19D-26A5-EFE528F1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36F59-FADA-44CC-A8A7-6E1FAC40F0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7A333D-A6DD-AEC6-DDF4-5C513B58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02AB8C-257B-21DD-E3A3-6701A4F0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0889B-5FA4-45F2-80F0-E2718FFBB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669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3F0D7-CE35-AA59-954C-DD9230F7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B03AE7-6C66-D88F-7251-BBF08AECF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4A0D2E-5D9F-BA03-EB68-CCEE9670D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84985B-A01A-DCC0-DDBD-117B12204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36F59-FADA-44CC-A8A7-6E1FAC40F0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26DC51-785D-A6CE-ECDC-1C9002E4C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753F14-4DA7-C465-7CC9-5FD62F95F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0889B-5FA4-45F2-80F0-E2718FFBB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270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3CD1AC-7A9F-6121-B043-11F821BB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469434-6E2A-A605-C303-51D6228BF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DED46E-DCE1-41BC-3105-D071B7A1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36F59-FADA-44CC-A8A7-6E1FAC40F0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4E8E5D-7D01-F407-78C3-B0B879C0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D10672-5586-0252-3F72-9215A3BA1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0889B-5FA4-45F2-80F0-E2718FFBB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7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7B209B7-87FB-18D5-636A-E4C811AAE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6B7798-3B0C-942A-FD89-2CA52DE42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EC1616-B25C-C373-747E-7727165B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36F59-FADA-44CC-A8A7-6E1FAC40F0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6FECC1-B0AC-74EF-1528-A2E9C3B6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21C9A0-29FC-957D-8A87-57DE1C23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0889B-5FA4-45F2-80F0-E2718FFBB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169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FB8CE6-A457-178F-53DA-29A33A0C5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DECF66-30D3-619D-5F6F-523930978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62203A-23A8-12A0-C861-16343D92C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36F59-FADA-44CC-A8A7-6E1FAC40F0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B38CD7-E8E9-091C-328C-44D796DB8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3A2BC0-5F8B-D092-86EC-A939A97DC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90889B-5FA4-45F2-80F0-E2718FFBB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686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D9D4657-A33B-119F-4860-C4F07DDB2C7D}"/>
              </a:ext>
            </a:extLst>
          </p:cNvPr>
          <p:cNvSpPr txBox="1"/>
          <p:nvPr/>
        </p:nvSpPr>
        <p:spPr>
          <a:xfrm>
            <a:off x="347700" y="1723640"/>
            <a:ext cx="114965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000" b="1" dirty="0"/>
              <a:t>ASV-level Microbial Shifts Reveal Treatment Outcomes in FMT for patients with recurrent </a:t>
            </a:r>
            <a:r>
              <a:rPr lang="en-US" altLang="zh-CN" sz="3000" b="1" i="1" dirty="0" err="1"/>
              <a:t>Clostridioides</a:t>
            </a:r>
            <a:r>
              <a:rPr lang="en-US" altLang="zh-CN" sz="3000" b="1" i="1" dirty="0"/>
              <a:t> difficile </a:t>
            </a:r>
            <a:r>
              <a:rPr lang="en-US" altLang="zh-CN" sz="3000" b="1" dirty="0"/>
              <a:t>infection</a:t>
            </a:r>
            <a:endParaRPr lang="zh-CN" altLang="en-US" sz="3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1BE3D0-C125-3F81-2AF2-4370653BDC92}"/>
              </a:ext>
            </a:extLst>
          </p:cNvPr>
          <p:cNvSpPr txBox="1"/>
          <p:nvPr/>
        </p:nvSpPr>
        <p:spPr>
          <a:xfrm>
            <a:off x="4242032" y="4466379"/>
            <a:ext cx="3707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Shawn</a:t>
            </a:r>
            <a:r>
              <a:rPr lang="zh-CN" altLang="en-US" dirty="0"/>
              <a:t> </a:t>
            </a:r>
            <a:r>
              <a:rPr lang="en-US" altLang="zh-CN" dirty="0"/>
              <a:t>Wang</a:t>
            </a:r>
          </a:p>
          <a:p>
            <a:pPr algn="ctr"/>
            <a:r>
              <a:rPr lang="en-US" altLang="zh-CN" dirty="0"/>
              <a:t>4/30/2025</a:t>
            </a:r>
          </a:p>
        </p:txBody>
      </p:sp>
    </p:spTree>
    <p:extLst>
      <p:ext uri="{BB962C8B-B14F-4D97-AF65-F5344CB8AC3E}">
        <p14:creationId xmlns:p14="http://schemas.microsoft.com/office/powerpoint/2010/main" val="1324870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631188D-F5FF-B07F-9A90-E5D39EC60AA7}"/>
              </a:ext>
            </a:extLst>
          </p:cNvPr>
          <p:cNvSpPr txBox="1"/>
          <p:nvPr/>
        </p:nvSpPr>
        <p:spPr>
          <a:xfrm>
            <a:off x="989835" y="601802"/>
            <a:ext cx="9346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Background: CDI, Microbiota Disruption &amp; FMT</a:t>
            </a:r>
            <a:endParaRPr lang="zh-CN" altLang="en-US" sz="2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BFBEBA-1B5F-82EC-327E-F43CEEF8A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5" b="11660"/>
          <a:stretch/>
        </p:blipFill>
        <p:spPr>
          <a:xfrm>
            <a:off x="5238926" y="2169773"/>
            <a:ext cx="6070221" cy="329910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9CC068BA-40EF-3F93-4E77-D3C0FC2671C8}"/>
              </a:ext>
            </a:extLst>
          </p:cNvPr>
          <p:cNvGrpSpPr/>
          <p:nvPr/>
        </p:nvGrpSpPr>
        <p:grpSpPr>
          <a:xfrm>
            <a:off x="1325181" y="1378001"/>
            <a:ext cx="3241998" cy="4957893"/>
            <a:chOff x="1119863" y="1298305"/>
            <a:chExt cx="3241998" cy="495789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5C88BBC-6BBC-DF7A-5029-43B4D5706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9864" y="1298305"/>
              <a:ext cx="3241997" cy="4957893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1CFA546-59D2-4328-CEB7-3AA26A92742C}"/>
                </a:ext>
              </a:extLst>
            </p:cNvPr>
            <p:cNvSpPr/>
            <p:nvPr/>
          </p:nvSpPr>
          <p:spPr>
            <a:xfrm>
              <a:off x="1119863" y="5498982"/>
              <a:ext cx="549545" cy="6501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467AF51F-8B1B-34A5-9CED-5E256C05FDED}"/>
              </a:ext>
            </a:extLst>
          </p:cNvPr>
          <p:cNvSpPr txBox="1"/>
          <p:nvPr/>
        </p:nvSpPr>
        <p:spPr>
          <a:xfrm>
            <a:off x="67988" y="6513872"/>
            <a:ext cx="22688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i="0" dirty="0" err="1">
                <a:effectLst/>
                <a:latin typeface="+mn-ea"/>
              </a:rPr>
              <a:t>Tsigrelis</a:t>
            </a:r>
            <a:r>
              <a:rPr lang="en-US" altLang="zh-CN" sz="1200" b="1" i="0" dirty="0">
                <a:effectLst/>
                <a:latin typeface="+mn-ea"/>
              </a:rPr>
              <a:t>, CCJM, 2020</a:t>
            </a:r>
            <a:endParaRPr lang="zh-CN" altLang="en-US" sz="1200" b="1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E4C820-27AB-41F5-7F32-E6CC07113EB3}"/>
              </a:ext>
            </a:extLst>
          </p:cNvPr>
          <p:cNvSpPr txBox="1"/>
          <p:nvPr/>
        </p:nvSpPr>
        <p:spPr>
          <a:xfrm>
            <a:off x="9239250" y="6513873"/>
            <a:ext cx="3022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Arteaga-Muller et al., Nutrients, 2024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332716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byota (fecal microbiota, live-jslm) FDA Approval History - Drugs.com">
            <a:extLst>
              <a:ext uri="{FF2B5EF4-FFF2-40B4-BE49-F238E27FC236}">
                <a16:creationId xmlns:a16="http://schemas.microsoft.com/office/drawing/2014/main" id="{4F310720-73A0-A789-3CD9-4130C54C4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13" y="1967053"/>
            <a:ext cx="2940147" cy="365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2F8EE85-0312-ABC7-EC81-7D65DDFDB8E0}"/>
              </a:ext>
            </a:extLst>
          </p:cNvPr>
          <p:cNvSpPr txBox="1"/>
          <p:nvPr/>
        </p:nvSpPr>
        <p:spPr>
          <a:xfrm>
            <a:off x="989834" y="601802"/>
            <a:ext cx="10461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RBX2660: A Microbiota-Based Investigational Therapeutic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884F43-07C3-7E86-79FC-23D6A4010D0B}"/>
              </a:ext>
            </a:extLst>
          </p:cNvPr>
          <p:cNvSpPr txBox="1"/>
          <p:nvPr/>
        </p:nvSpPr>
        <p:spPr>
          <a:xfrm>
            <a:off x="526940" y="2458914"/>
            <a:ext cx="810045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FDA-approved as REBYOTA™ in 2022 – first and only approved FMT product</a:t>
            </a:r>
          </a:p>
          <a:p>
            <a:pPr indent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Developed as a standardized alternative to traditional FMT</a:t>
            </a:r>
          </a:p>
          <a:p>
            <a:pPr indent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Contains screened donor microbiota in liquid suspension</a:t>
            </a:r>
          </a:p>
          <a:p>
            <a:pPr indent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Delivered via rectal enema</a:t>
            </a:r>
          </a:p>
          <a:p>
            <a:pPr indent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Manufactured under GMP conditions by </a:t>
            </a:r>
            <a:r>
              <a:rPr lang="en-US" altLang="zh-CN" dirty="0" err="1"/>
              <a:t>Rebiotix</a:t>
            </a:r>
            <a:r>
              <a:rPr lang="en-US" altLang="zh-CN" dirty="0"/>
              <a:t> Inc.</a:t>
            </a:r>
          </a:p>
          <a:p>
            <a:pPr indent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Evaluated in clinical trials for recurrent CDI (e.g., PUNCH CD study)</a:t>
            </a:r>
          </a:p>
          <a:p>
            <a:pPr indent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Shown to reduce CDI recurrence and antibiotic resistance gene burden</a:t>
            </a:r>
          </a:p>
        </p:txBody>
      </p:sp>
    </p:spTree>
    <p:extLst>
      <p:ext uri="{BB962C8B-B14F-4D97-AF65-F5344CB8AC3E}">
        <p14:creationId xmlns:p14="http://schemas.microsoft.com/office/powerpoint/2010/main" val="3651652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A228B30-DA8D-7DB7-98C3-B516E765FCDE}"/>
              </a:ext>
            </a:extLst>
          </p:cNvPr>
          <p:cNvSpPr txBox="1"/>
          <p:nvPr/>
        </p:nvSpPr>
        <p:spPr>
          <a:xfrm>
            <a:off x="1051560" y="55447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Scientific Question and Hypotheses</a:t>
            </a:r>
            <a:endParaRPr lang="zh-CN" altLang="en-US" sz="28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0D5FEE-B132-3BE3-E938-B89B9277DD44}"/>
              </a:ext>
            </a:extLst>
          </p:cNvPr>
          <p:cNvSpPr txBox="1"/>
          <p:nvPr/>
        </p:nvSpPr>
        <p:spPr>
          <a:xfrm>
            <a:off x="1051560" y="1471434"/>
            <a:ext cx="1017460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Scientific Question 1</a:t>
            </a:r>
          </a:p>
          <a:p>
            <a:r>
              <a:rPr lang="zh-CN" altLang="en-US" sz="1600" dirty="0"/>
              <a:t>Does RBX2660 treatment significantly alter the gut microbiota composition in patients with recurrent C. difficile infection?</a:t>
            </a:r>
            <a:endParaRPr lang="en-US" altLang="zh-CN" sz="1600" b="1" dirty="0"/>
          </a:p>
          <a:p>
            <a:pPr>
              <a:spcBef>
                <a:spcPts val="600"/>
              </a:spcBef>
            </a:pPr>
            <a:r>
              <a:rPr lang="zh-CN" altLang="en-US" sz="1600" b="1" dirty="0"/>
              <a:t>Null Hypothesis (H₀₁):</a:t>
            </a:r>
          </a:p>
          <a:p>
            <a:r>
              <a:rPr lang="zh-CN" altLang="en-US" sz="1600" dirty="0"/>
              <a:t>RBX2660 treatment does not significantly change gut microbial diversity or composition.</a:t>
            </a:r>
          </a:p>
          <a:p>
            <a:pPr>
              <a:spcBef>
                <a:spcPts val="600"/>
              </a:spcBef>
            </a:pPr>
            <a:r>
              <a:rPr lang="zh-CN" altLang="en-US" sz="1600" b="1" dirty="0"/>
              <a:t>Alternative Hypothesis (H₁₁):</a:t>
            </a:r>
          </a:p>
          <a:p>
            <a:r>
              <a:rPr lang="zh-CN" altLang="en-US" sz="1600" dirty="0"/>
              <a:t>RBX2660 treatment restores microbial diversity and shifts composition toward a healthier, donor-like profile.</a:t>
            </a:r>
          </a:p>
          <a:p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Scientific Question 2</a:t>
            </a:r>
          </a:p>
          <a:p>
            <a:r>
              <a:rPr lang="zh-CN" altLang="en-US" sz="1600" dirty="0"/>
              <a:t>Do patients with better clinical outcomes (i.e., no need for repeat intervention) exhibit different microbiota than those who relapse?</a:t>
            </a:r>
          </a:p>
          <a:p>
            <a:pPr>
              <a:spcBef>
                <a:spcPts val="600"/>
              </a:spcBef>
            </a:pPr>
            <a:r>
              <a:rPr lang="zh-CN" altLang="en-US" sz="1600" b="1" dirty="0"/>
              <a:t>Null Hypothesis (H₀₂):</a:t>
            </a:r>
          </a:p>
          <a:p>
            <a:r>
              <a:rPr lang="zh-CN" altLang="en-US" sz="1600" dirty="0"/>
              <a:t>There is no difference in microbial profiles between patients who required repeat intervention (RI) and those who did not (SI).</a:t>
            </a:r>
          </a:p>
          <a:p>
            <a:pPr>
              <a:spcBef>
                <a:spcPts val="600"/>
              </a:spcBef>
            </a:pPr>
            <a:r>
              <a:rPr lang="zh-CN" altLang="en-US" sz="1600" b="1" dirty="0"/>
              <a:t>Alternative Hypothesis (H₁₂):</a:t>
            </a:r>
          </a:p>
          <a:p>
            <a:r>
              <a:rPr lang="zh-CN" altLang="en-US" sz="1600" dirty="0"/>
              <a:t>Patients with better clinical outcomes (SI) show greater engraftment of beneficial taxa and clearance of opportunists than RI patients.</a:t>
            </a:r>
          </a:p>
        </p:txBody>
      </p:sp>
    </p:spTree>
    <p:extLst>
      <p:ext uri="{BB962C8B-B14F-4D97-AF65-F5344CB8AC3E}">
        <p14:creationId xmlns:p14="http://schemas.microsoft.com/office/powerpoint/2010/main" val="3849615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02D8F1C-7DBF-FDDE-03B9-FD78FD0B0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071" y="1687591"/>
            <a:ext cx="6311857" cy="390525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D1ECA2F-318F-6C78-4B86-B5BFB7ABD490}"/>
              </a:ext>
            </a:extLst>
          </p:cNvPr>
          <p:cNvSpPr txBox="1"/>
          <p:nvPr/>
        </p:nvSpPr>
        <p:spPr>
          <a:xfrm>
            <a:off x="3370881" y="5705803"/>
            <a:ext cx="5450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Alpha diversity improved after RBX2660 in SI7; RI7 showed partial recovery. All metrics remained lower than donor controls.</a:t>
            </a:r>
            <a:endParaRPr lang="zh-CN" altLang="en-US" sz="12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CA1068-91DF-5858-ACAD-FE2A98046CE5}"/>
              </a:ext>
            </a:extLst>
          </p:cNvPr>
          <p:cNvSpPr txBox="1"/>
          <p:nvPr/>
        </p:nvSpPr>
        <p:spPr>
          <a:xfrm>
            <a:off x="2294027" y="275033"/>
            <a:ext cx="76039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RBX2660 Increased Alpha Diversity in Both SI and RI, but to a Lesser Extent in RI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84273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90FDA28-C72E-198D-1229-85039882A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687" y="1382274"/>
            <a:ext cx="6710285" cy="506760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FB473A3-D241-C512-3719-01E87597FB73}"/>
              </a:ext>
            </a:extLst>
          </p:cNvPr>
          <p:cNvSpPr txBox="1"/>
          <p:nvPr/>
        </p:nvSpPr>
        <p:spPr>
          <a:xfrm>
            <a:off x="2318287" y="248569"/>
            <a:ext cx="75554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FMT Altered Microbial Community Composition, with Stronger Shifts in SI Group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61D753-9BF1-E318-6B52-50B6D95F7845}"/>
              </a:ext>
            </a:extLst>
          </p:cNvPr>
          <p:cNvSpPr txBox="1"/>
          <p:nvPr/>
        </p:nvSpPr>
        <p:spPr>
          <a:xfrm>
            <a:off x="1983783" y="6404137"/>
            <a:ext cx="84594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NMDS plots show that SI patients shift more clearly toward donor-like microbiota structure than RI patients.</a:t>
            </a:r>
          </a:p>
        </p:txBody>
      </p:sp>
    </p:spTree>
    <p:extLst>
      <p:ext uri="{BB962C8B-B14F-4D97-AF65-F5344CB8AC3E}">
        <p14:creationId xmlns:p14="http://schemas.microsoft.com/office/powerpoint/2010/main" val="855301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7FDE03B-C705-E340-F5EE-455999F95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01" y="1779722"/>
            <a:ext cx="4009036" cy="39908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E16DC5A-E9D9-EA76-1F33-90F938BCC8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4"/>
          <a:stretch/>
        </p:blipFill>
        <p:spPr>
          <a:xfrm>
            <a:off x="4825139" y="1214033"/>
            <a:ext cx="6598385" cy="500336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424CE4F-23EE-8E42-DDA0-C82C6BE0B12E}"/>
              </a:ext>
            </a:extLst>
          </p:cNvPr>
          <p:cNvSpPr txBox="1"/>
          <p:nvPr/>
        </p:nvSpPr>
        <p:spPr>
          <a:xfrm>
            <a:off x="2318287" y="248569"/>
            <a:ext cx="75554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RBX2660 Promoted Recovery of Firmicutes and Reduction of Proteobacteria at the Phylum Level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83AB681-FD7A-E1EB-48E9-348647BBEF99}"/>
              </a:ext>
            </a:extLst>
          </p:cNvPr>
          <p:cNvSpPr txBox="1"/>
          <p:nvPr/>
        </p:nvSpPr>
        <p:spPr>
          <a:xfrm>
            <a:off x="3047999" y="6147766"/>
            <a:ext cx="6359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Firmicutes increased and Proteobacteria decreased after treatment, more strongly in SI7. </a:t>
            </a:r>
            <a:r>
              <a:rPr lang="en-US" altLang="zh-CN" sz="1200" b="1" dirty="0" err="1"/>
              <a:t>Actino</a:t>
            </a:r>
            <a:r>
              <a:rPr lang="en-US" altLang="zh-CN" sz="1200" b="1" dirty="0"/>
              <a:t>- and </a:t>
            </a:r>
            <a:r>
              <a:rPr lang="en-US" altLang="zh-CN" sz="1200" b="1" dirty="0" err="1"/>
              <a:t>Bacteroidota</a:t>
            </a:r>
            <a:r>
              <a:rPr lang="en-US" altLang="zh-CN" sz="1200" b="1" dirty="0"/>
              <a:t> showed moderate recovery in both groups.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118463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E9C74AC-8E49-7C35-8834-7148BBEAA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0" y="910758"/>
            <a:ext cx="6061677" cy="56594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D9A44E1-45F3-A6BF-C8AA-7899AE815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5402" y="108921"/>
            <a:ext cx="2217888" cy="180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870D6C1-E346-7B6E-D105-B22C4537D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972" y="2616832"/>
            <a:ext cx="5059810" cy="390001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6A2E546-C738-5656-0586-A39689B6CB69}"/>
              </a:ext>
            </a:extLst>
          </p:cNvPr>
          <p:cNvSpPr txBox="1"/>
          <p:nvPr/>
        </p:nvSpPr>
        <p:spPr>
          <a:xfrm>
            <a:off x="2131017" y="108921"/>
            <a:ext cx="79299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Engraftment of Blautia and Other Key Firmicutes Genera Marks Successful Microbiota Recovery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49900B5-CBE3-8C8A-3EC4-1E550D5D86FB}"/>
              </a:ext>
            </a:extLst>
          </p:cNvPr>
          <p:cNvSpPr/>
          <p:nvPr/>
        </p:nvSpPr>
        <p:spPr>
          <a:xfrm>
            <a:off x="2108201" y="1123951"/>
            <a:ext cx="1149350" cy="1244600"/>
          </a:xfrm>
          <a:prstGeom prst="roundRect">
            <a:avLst>
              <a:gd name="adj" fmla="val 7190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FA593D6-1262-469A-95FA-698389D81D26}"/>
              </a:ext>
            </a:extLst>
          </p:cNvPr>
          <p:cNvSpPr/>
          <p:nvPr/>
        </p:nvSpPr>
        <p:spPr>
          <a:xfrm>
            <a:off x="3454401" y="1119455"/>
            <a:ext cx="1149350" cy="1244600"/>
          </a:xfrm>
          <a:prstGeom prst="roundRect">
            <a:avLst>
              <a:gd name="adj" fmla="val 7190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F2437D6-78B9-DD3D-BE66-7A3C63B4965E}"/>
              </a:ext>
            </a:extLst>
          </p:cNvPr>
          <p:cNvSpPr/>
          <p:nvPr/>
        </p:nvSpPr>
        <p:spPr>
          <a:xfrm>
            <a:off x="4838701" y="1119455"/>
            <a:ext cx="1149350" cy="1244600"/>
          </a:xfrm>
          <a:prstGeom prst="roundRect">
            <a:avLst>
              <a:gd name="adj" fmla="val 7190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6E618F7-806F-A0F4-3217-F407CA0222D6}"/>
              </a:ext>
            </a:extLst>
          </p:cNvPr>
          <p:cNvSpPr/>
          <p:nvPr/>
        </p:nvSpPr>
        <p:spPr>
          <a:xfrm>
            <a:off x="762000" y="2410622"/>
            <a:ext cx="1149350" cy="1244600"/>
          </a:xfrm>
          <a:prstGeom prst="roundRect">
            <a:avLst>
              <a:gd name="adj" fmla="val 7190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C05EB56-40EC-F9AF-6EB0-68CA6FF70329}"/>
              </a:ext>
            </a:extLst>
          </p:cNvPr>
          <p:cNvSpPr/>
          <p:nvPr/>
        </p:nvSpPr>
        <p:spPr>
          <a:xfrm>
            <a:off x="3454401" y="2420701"/>
            <a:ext cx="1149350" cy="1244600"/>
          </a:xfrm>
          <a:prstGeom prst="roundRect">
            <a:avLst>
              <a:gd name="adj" fmla="val 7190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4F62350-D6A4-506C-E76C-B4CA1B75E7E1}"/>
              </a:ext>
            </a:extLst>
          </p:cNvPr>
          <p:cNvSpPr/>
          <p:nvPr/>
        </p:nvSpPr>
        <p:spPr>
          <a:xfrm>
            <a:off x="4838701" y="2420701"/>
            <a:ext cx="1149350" cy="1244600"/>
          </a:xfrm>
          <a:prstGeom prst="roundRect">
            <a:avLst>
              <a:gd name="adj" fmla="val 7190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69C5CA6-41AA-5524-4565-2F8F884FD806}"/>
              </a:ext>
            </a:extLst>
          </p:cNvPr>
          <p:cNvSpPr/>
          <p:nvPr/>
        </p:nvSpPr>
        <p:spPr>
          <a:xfrm>
            <a:off x="2119128" y="3694935"/>
            <a:ext cx="1149350" cy="1244600"/>
          </a:xfrm>
          <a:prstGeom prst="roundRect">
            <a:avLst>
              <a:gd name="adj" fmla="val 7190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E2100DC-6235-F849-7658-1A0F69AD6EBF}"/>
              </a:ext>
            </a:extLst>
          </p:cNvPr>
          <p:cNvSpPr/>
          <p:nvPr/>
        </p:nvSpPr>
        <p:spPr>
          <a:xfrm>
            <a:off x="4838701" y="3694935"/>
            <a:ext cx="1149350" cy="1244600"/>
          </a:xfrm>
          <a:prstGeom prst="roundRect">
            <a:avLst>
              <a:gd name="adj" fmla="val 7190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638916F-C6A4-E262-D0AA-9165AE282141}"/>
              </a:ext>
            </a:extLst>
          </p:cNvPr>
          <p:cNvSpPr/>
          <p:nvPr/>
        </p:nvSpPr>
        <p:spPr>
          <a:xfrm>
            <a:off x="2119128" y="4977635"/>
            <a:ext cx="1149350" cy="1244600"/>
          </a:xfrm>
          <a:prstGeom prst="roundRect">
            <a:avLst>
              <a:gd name="adj" fmla="val 7190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7C37C4C-B19E-24A1-67C5-F5EA1D74C12D}"/>
              </a:ext>
            </a:extLst>
          </p:cNvPr>
          <p:cNvSpPr/>
          <p:nvPr/>
        </p:nvSpPr>
        <p:spPr>
          <a:xfrm>
            <a:off x="3454401" y="4977635"/>
            <a:ext cx="1149350" cy="1244600"/>
          </a:xfrm>
          <a:prstGeom prst="roundRect">
            <a:avLst>
              <a:gd name="adj" fmla="val 7190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E77AAF3-7C12-C37D-0C90-20FBCFBEC135}"/>
              </a:ext>
            </a:extLst>
          </p:cNvPr>
          <p:cNvSpPr/>
          <p:nvPr/>
        </p:nvSpPr>
        <p:spPr>
          <a:xfrm>
            <a:off x="2108200" y="2420701"/>
            <a:ext cx="1149350" cy="1244600"/>
          </a:xfrm>
          <a:prstGeom prst="roundRect">
            <a:avLst>
              <a:gd name="adj" fmla="val 719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5057DB0-499B-069B-6780-A14351B904A3}"/>
              </a:ext>
            </a:extLst>
          </p:cNvPr>
          <p:cNvSpPr/>
          <p:nvPr/>
        </p:nvSpPr>
        <p:spPr>
          <a:xfrm>
            <a:off x="3454401" y="3682119"/>
            <a:ext cx="1149350" cy="1244600"/>
          </a:xfrm>
          <a:prstGeom prst="roundRect">
            <a:avLst>
              <a:gd name="adj" fmla="val 719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093EBE7-70D4-E9FA-C7A5-B4C2A190A7EF}"/>
              </a:ext>
            </a:extLst>
          </p:cNvPr>
          <p:cNvSpPr/>
          <p:nvPr/>
        </p:nvSpPr>
        <p:spPr>
          <a:xfrm>
            <a:off x="4838701" y="4977635"/>
            <a:ext cx="1149350" cy="1244600"/>
          </a:xfrm>
          <a:prstGeom prst="roundRect">
            <a:avLst>
              <a:gd name="adj" fmla="val 719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60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EF6C6B-B59D-BDF1-A966-56C96F34B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91" y="2358068"/>
            <a:ext cx="5467047" cy="33491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4384592-D976-6D9C-FD03-5987C577B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3318" y="241089"/>
            <a:ext cx="2217888" cy="180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19620B3-DE0A-E675-4303-79FAF322B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38" y="2502977"/>
            <a:ext cx="4376020" cy="314874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DC8B03E-3CEB-6E53-E841-F8D1B5236EE8}"/>
              </a:ext>
            </a:extLst>
          </p:cNvPr>
          <p:cNvSpPr txBox="1"/>
          <p:nvPr/>
        </p:nvSpPr>
        <p:spPr>
          <a:xfrm>
            <a:off x="2410460" y="790784"/>
            <a:ext cx="7371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Failure to Suppress Opportunistic Proteobacteria Associates with Poor FMT Outcomes</a:t>
            </a:r>
            <a:endParaRPr lang="zh-CN" altLang="en-US" sz="2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2A220AD-7395-91E8-1147-DE4CB6600EDC}"/>
              </a:ext>
            </a:extLst>
          </p:cNvPr>
          <p:cNvSpPr txBox="1"/>
          <p:nvPr/>
        </p:nvSpPr>
        <p:spPr>
          <a:xfrm>
            <a:off x="3398998" y="5796626"/>
            <a:ext cx="5948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Opportunistic Proteobacteria genera decreased in SI7 but remained in RI7.</a:t>
            </a:r>
          </a:p>
          <a:p>
            <a:r>
              <a:rPr lang="en-US" altLang="zh-CN" sz="1200" b="1" dirty="0"/>
              <a:t>ASV-level analysis confirmed clearance of </a:t>
            </a:r>
            <a:r>
              <a:rPr lang="en-US" altLang="zh-CN" sz="1200" b="1" i="1" dirty="0"/>
              <a:t>Escherichia</a:t>
            </a:r>
            <a:r>
              <a:rPr lang="en-US" altLang="zh-CN" sz="1200" b="1" dirty="0"/>
              <a:t> ASV_0004 in successful cases.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511501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BA9CA8A-E8BE-1057-8BAC-E701D7313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5590" y="2673153"/>
            <a:ext cx="3509210" cy="331763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27C7541-E7EF-0D2B-F56C-280DE0FCF8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666"/>
          <a:stretch/>
        </p:blipFill>
        <p:spPr>
          <a:xfrm>
            <a:off x="9986872" y="204431"/>
            <a:ext cx="1959152" cy="1800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02FB564-C639-CF35-AAC9-19800A342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418" y="2637666"/>
            <a:ext cx="4539454" cy="335311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8F832FB-F292-8E10-885C-41B1FB64FB48}"/>
              </a:ext>
            </a:extLst>
          </p:cNvPr>
          <p:cNvSpPr txBox="1"/>
          <p:nvPr/>
        </p:nvSpPr>
        <p:spPr>
          <a:xfrm>
            <a:off x="1795727" y="867217"/>
            <a:ext cx="73033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err="1"/>
              <a:t>Akkermansia</a:t>
            </a:r>
            <a:r>
              <a:rPr lang="en-US" altLang="zh-CN" sz="2400" b="1" dirty="0"/>
              <a:t> Increased After FMT,</a:t>
            </a:r>
          </a:p>
          <a:p>
            <a:pPr algn="ctr"/>
            <a:r>
              <a:rPr lang="en-US" altLang="zh-CN" sz="2400" b="1" dirty="0"/>
              <a:t> with Greater and More Variable Expansion in RI7</a:t>
            </a:r>
            <a:endParaRPr lang="zh-CN" altLang="en-US" sz="2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4D4212C-FA23-481F-5A47-B32AA8D1C352}"/>
              </a:ext>
            </a:extLst>
          </p:cNvPr>
          <p:cNvSpPr txBox="1"/>
          <p:nvPr/>
        </p:nvSpPr>
        <p:spPr>
          <a:xfrm>
            <a:off x="2876550" y="6162353"/>
            <a:ext cx="657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i="1" dirty="0" err="1"/>
              <a:t>Akkermansia</a:t>
            </a:r>
            <a:r>
              <a:rPr lang="en-US" altLang="zh-CN" sz="1200" b="1" dirty="0"/>
              <a:t> expanded in both SI7 and RI7, but reached much higher levels in RI7. ASV_0002 dominated the expansion and may signal dysregulated recovery.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167823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269725B-8E23-A0BB-CBE0-56BFD8E4478C}"/>
              </a:ext>
            </a:extLst>
          </p:cNvPr>
          <p:cNvSpPr txBox="1"/>
          <p:nvPr/>
        </p:nvSpPr>
        <p:spPr>
          <a:xfrm>
            <a:off x="811213" y="270032"/>
            <a:ext cx="10864321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altLang="zh-CN" sz="2000" b="1" dirty="0"/>
              <a:t>Summary</a:t>
            </a:r>
          </a:p>
          <a:p>
            <a:pPr>
              <a:spcAft>
                <a:spcPts val="600"/>
              </a:spcAft>
            </a:pPr>
            <a:r>
              <a:rPr lang="en-US" altLang="zh-CN" sz="1600" b="1" dirty="0"/>
              <a:t>Q1: Does RBX2660 treatment alter the gut microbiota in patients with recurrent CDI?</a:t>
            </a:r>
          </a:p>
          <a:p>
            <a:pPr>
              <a:spcAft>
                <a:spcPts val="600"/>
              </a:spcAft>
            </a:pPr>
            <a:r>
              <a:rPr lang="en-US" altLang="zh-CN" sz="1600" dirty="0"/>
              <a:t>Yes!</a:t>
            </a:r>
          </a:p>
          <a:p>
            <a:pPr>
              <a:spcAft>
                <a:spcPts val="600"/>
              </a:spcAft>
            </a:pPr>
            <a:r>
              <a:rPr lang="en-US" altLang="zh-CN" sz="1600" dirty="0"/>
              <a:t>RBX2660 treatment led to a partial restoration of microbial diversity and composition, including increased alpha diversity and a shift toward donor-like community structure.</a:t>
            </a:r>
          </a:p>
          <a:p>
            <a:pPr>
              <a:spcAft>
                <a:spcPts val="600"/>
              </a:spcAft>
            </a:pPr>
            <a:r>
              <a:rPr lang="en-US" altLang="zh-CN" sz="1600" dirty="0"/>
              <a:t>At the genus and ASV levels, key commensals such as </a:t>
            </a:r>
            <a:r>
              <a:rPr lang="en-US" altLang="zh-CN" sz="1600" dirty="0" err="1"/>
              <a:t>Blautia</a:t>
            </a:r>
            <a:r>
              <a:rPr lang="en-US" altLang="zh-CN" sz="1600" dirty="0"/>
              <a:t> reappeared post-treatment, supporting microbiota recovery.</a:t>
            </a:r>
          </a:p>
          <a:p>
            <a:pPr indent="2520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>
              <a:spcAft>
                <a:spcPts val="600"/>
              </a:spcAft>
            </a:pPr>
            <a:r>
              <a:rPr lang="en-US" altLang="zh-CN" sz="1600" b="1" dirty="0"/>
              <a:t>Q2: Do patients with better clinical outcomes exhibit different microbial trajectories?</a:t>
            </a:r>
          </a:p>
          <a:p>
            <a:pPr>
              <a:spcAft>
                <a:spcPts val="600"/>
              </a:spcAft>
            </a:pPr>
            <a:r>
              <a:rPr lang="en-US" altLang="zh-CN" sz="1600" dirty="0"/>
              <a:t>Yes!</a:t>
            </a:r>
          </a:p>
          <a:p>
            <a:pPr>
              <a:spcAft>
                <a:spcPts val="600"/>
              </a:spcAft>
            </a:pPr>
            <a:r>
              <a:rPr lang="en-US" altLang="zh-CN" sz="1600" dirty="0"/>
              <a:t>Patients who did not require repeat intervention (SI group) showed:</a:t>
            </a:r>
          </a:p>
          <a:p>
            <a:pPr indent="252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Stronger engraftment of beneficial taxa (e.g., </a:t>
            </a:r>
            <a:r>
              <a:rPr lang="en-US" altLang="zh-CN" sz="1600" dirty="0" err="1"/>
              <a:t>Blautia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Roseburia</a:t>
            </a:r>
            <a:r>
              <a:rPr lang="en-US" altLang="zh-CN" sz="1600" dirty="0"/>
              <a:t>)</a:t>
            </a:r>
          </a:p>
          <a:p>
            <a:pPr indent="252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Greater reduction of opportunistic Proteobacteria (e.g., Escherichia-Shigella, Klebsiella)</a:t>
            </a:r>
          </a:p>
          <a:p>
            <a:pPr indent="252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More stable </a:t>
            </a:r>
            <a:r>
              <a:rPr lang="en-US" altLang="zh-CN" sz="1600" dirty="0" err="1"/>
              <a:t>Akkermansia</a:t>
            </a:r>
            <a:r>
              <a:rPr lang="en-US" altLang="zh-CN" sz="1600" dirty="0"/>
              <a:t> levels, compared to RI group where overgrowth of ASV_0002 was observed.</a:t>
            </a:r>
            <a:endParaRPr lang="en-US" altLang="zh-CN" b="1" dirty="0"/>
          </a:p>
          <a:p>
            <a:pPr>
              <a:buNone/>
            </a:pPr>
            <a:endParaRPr lang="en-US" altLang="zh-CN" sz="2000" b="1" dirty="0"/>
          </a:p>
          <a:p>
            <a:pPr>
              <a:spcAft>
                <a:spcPts val="600"/>
              </a:spcAft>
              <a:buNone/>
            </a:pPr>
            <a:r>
              <a:rPr lang="en-US" altLang="zh-CN" sz="2000" b="1" dirty="0"/>
              <a:t>Future Directions</a:t>
            </a:r>
          </a:p>
          <a:p>
            <a:pPr indent="252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Explore predictive microbial signatures (e.g., donor ASVs, recipient baseline features) for treatment outcome stratification.</a:t>
            </a:r>
          </a:p>
          <a:p>
            <a:pPr indent="252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Investigate host-microbe interactions driving </a:t>
            </a:r>
            <a:r>
              <a:rPr lang="en-US" altLang="zh-CN" sz="1600" dirty="0" err="1"/>
              <a:t>Akkermansia</a:t>
            </a:r>
            <a:r>
              <a:rPr lang="en-US" altLang="zh-CN" sz="1600" dirty="0"/>
              <a:t> overgrowth in non-responders.</a:t>
            </a:r>
          </a:p>
          <a:p>
            <a:pPr indent="252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Improve therapeutic formulations by enhancing colonization of beneficial taxa and targeting suppression of resistant opportunists.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9296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1314DC-EFC3-9AAE-7BCA-99A70E18C266}"/>
              </a:ext>
            </a:extLst>
          </p:cNvPr>
          <p:cNvSpPr txBox="1"/>
          <p:nvPr/>
        </p:nvSpPr>
        <p:spPr>
          <a:xfrm>
            <a:off x="3425825" y="2844225"/>
            <a:ext cx="5340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THANKS!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501643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2018</Words>
  <Application>Microsoft Office PowerPoint</Application>
  <PresentationFormat>宽屏</PresentationFormat>
  <Paragraphs>169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新宇 王</dc:creator>
  <cp:lastModifiedBy>新宇 王</cp:lastModifiedBy>
  <cp:revision>5</cp:revision>
  <dcterms:created xsi:type="dcterms:W3CDTF">2025-04-29T14:40:00Z</dcterms:created>
  <dcterms:modified xsi:type="dcterms:W3CDTF">2025-04-30T04:01:02Z</dcterms:modified>
</cp:coreProperties>
</file>